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1C5BA8" accent2="F36B21" accent3="123B78" accent4="EEF4FB" accent5="64748B" accent6="17243A" bg1="FFFFFF" bg2="EEF4FB" tx1="17243A" tx2="64748B" hlink="1C5BA8" folHlink="123B78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Seguridad en el sistema de ventas NETO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Implementación de Spring Security en una aplicación React + Spring Boot  ·  Ingeniería de Software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OBJETIVO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Proteger el acceso, las operaciones y los datos del sistema de ventas.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19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24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STACK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52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React + Vite  ·  Spring Boot  ·  Spring Security  ·  MySQL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48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53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EXPOSITOR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81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Nombre: ____________________     Grupo: ______</a:t>
            </a:r>
            <a:endParaRPr lang="es-MX" sz="1550"/>
          </a:p>
        </p:txBody>
      </p:sp>
      <p:sp>
        <p:nvSpPr>
          <p:cNvPr id="16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17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01</a:t>
            </a:r>
            <a:endParaRPr lang="es-MX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¿Por qué agregar seguridad?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Antes: el cliente podía ocultar pantallas, pero eso por sí solo no protege la API.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PROBLEMA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Una petición HTTP puede enviarse sin usar la interfaz. La autorización visual no basta.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19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24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SOLUCIÓN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52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El servidor autentica al usuario y decide si su rol puede ejecutar cada operación.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480000"/>
            <a:ext cx="1110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53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RESULTADO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810000"/>
            <a:ext cx="106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Las operaciones protegidas responden 401 si falta sesión y 403 si faltan permisos.</a:t>
            </a:r>
            <a:endParaRPr lang="es-MX" sz="1550"/>
          </a:p>
        </p:txBody>
      </p:sp>
      <p:sp>
        <p:nvSpPr>
          <p:cNvPr id="16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17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02</a:t>
            </a:r>
            <a:endParaRPr lang="es-MX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Arquitectura de seguridad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La autorización ocurre en el backend; React solo presenta el estado de sesión.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1 · REACT / VITE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Login, cookie de sesión y token CSRF. Vite reenvía /api a localhost:8080.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2 · SPRING SECURITY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SecurityFilterChain valida sesión, CSRF y permisos antes de entrar al controlador.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3 · SERVICIOS DE IDENTIDAD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UserDetailsService consulta al usuario y BCrypt verifica la contraseña.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4 · MYSQL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UsuarioSistema almacena nombre, hash, rol y estado activo.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03</a:t>
            </a:r>
            <a:endParaRPr lang="es-MX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Piezas implementadas en el backend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Responsabilidades separadas siguiendo la estructura por capas del proyecto.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config/SecurityConfig.java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Reglas HTTP, sesión, CSRF, BCrypt y respuestas JSON para 401/403.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config/UsuarioDetailsService.java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Busca al usuario activo y convierte su rol en una autoridad Spring.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controller/AuthController.java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Endpoints de CSRF, login, sesión actual y cierre de sesión.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model + repository + DTO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UsuarioSistema, consulta de usuarios y contratos de entrada/respuesta.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04</a:t>
            </a:r>
            <a:endParaRPr lang="es-MX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Usuarios y contraseñas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La contraseña en texto claro no se guarda en la base de datos.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ALMACENAMIENTO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PasswordEncoder usa BCrypt; el usuario mantiene passwordHash, rol y activo.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ARRANQUE LOCAL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UsuariosIniciales crea cajero, lider y encargado si no existen.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CONFIGURACIÓN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Las claves se pueden definir por NETO_CAJERO_PASSWORD, NETO_LIDER_PASSWORD y NETO_ENCARGADO_PASSWORD.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IMPORTANTE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Son cuentas de demostración. Configurar claves propias y desactivar demo-users en un entorno real.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05</a:t>
            </a:r>
            <a:endParaRPr lang="es-MX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Roles y permisos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El rol se valida en el backend, aunque alguien intente llamar directamente a la API.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CAJERO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Consultar ventas, productos y sucursales; registrar ventas.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LÍDER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Permisos de cajero y actualización de ventas.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ENCARGADO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Permisos de líder; borrar ventas, administrar catálogo/sucursales y consultar auditoría.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AUDITORÍA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El actor se obtiene de la sesión autenticada; no se confía en un nombre enviado por el navegador.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06</a:t>
            </a:r>
            <a:endParaRPr lang="es-MX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Flujo de inicio de sesión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AuthController autentica credenciales y guarda el contexto de seguridad en la sesión HTTP.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1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React solicita GET /api/auth/csrf y obtiene un token.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27956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28456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2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1256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React envía usuario, contraseña y token a POST /api/auth/login.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36912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37412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3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0212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AuthenticationManager consulta UserDetailsService; BCrypt compara el hash.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45868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46368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4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49168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El backend guarda la autenticación en la sesión y responde el perfil y rol.</a:t>
            </a:r>
            <a:endParaRPr lang="es-MX" sz="1550"/>
          </a:p>
        </p:txBody>
      </p:sp>
      <p:sp>
        <p:nvSpPr>
          <p:cNvPr id="19" name="Card 4"/>
          <p:cNvSpPr/>
          <p:nvPr/>
        </p:nvSpPr>
        <p:spPr>
          <a:xfrm>
            <a:off x="480000" y="54824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20" name="Card heading 4"/>
          <p:cNvSpPr/>
          <p:nvPr/>
        </p:nvSpPr>
        <p:spPr>
          <a:xfrm>
            <a:off x="650000" y="55324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5</a:t>
            </a:r>
            <a:endParaRPr lang="es-MX" sz="1450"/>
          </a:p>
        </p:txBody>
      </p:sp>
      <p:sp>
        <p:nvSpPr>
          <p:cNvPr id="21" name="Card body 4"/>
          <p:cNvSpPr/>
          <p:nvPr/>
        </p:nvSpPr>
        <p:spPr>
          <a:xfrm>
            <a:off x="650000" y="58124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GET /api/auth/me restaura la sesión; POST /api/auth/logout la invalida.</a:t>
            </a:r>
            <a:endParaRPr lang="es-MX" sz="1550"/>
          </a:p>
        </p:txBody>
      </p:sp>
      <p:sp>
        <p:nvSpPr>
          <p:cNvPr id="22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3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07</a:t>
            </a:r>
            <a:endParaRPr lang="es-MX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Sesión y protección CSRF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El navegador conserva la sesión; el token CSRF acompaña las operaciones que modifican datos.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COOKIE DE SESIÓN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HttpOnly y SameSite=Lax en la configuración actual.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CSRF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CookieCsrfTokenRepository; React envía el token en el encabezado que solicita Spring.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VITE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Proxy /api al backend para mantener llamadas del navegador en el mismo origen durante desarrollo.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CIERRE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Al salir, se invalida la sesión del servidor y el cliente elimina el estado local.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08</a:t>
            </a:r>
            <a:endParaRPr lang="es-MX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Qué cambió en la interfaz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El frontend ya no decide quién es el usuario enviando datos falsificables.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Login.jsx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Envía credenciales a Spring y presenta los errores recibidos.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App.jsx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Consulta /me al cargar, conserva el perfil y cierra sesión mediante el backend.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sesionHeaders.js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Incluye X-XSRF-TOKEN y ya no envía cabeceras de actor simuladas.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CONTROL DE VISTA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La interfaz puede ocultar opciones por rol; la protección real sigue siendo la regla backend.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09</a:t>
            </a:r>
            <a:endParaRPr lang="es-MX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Endpoints principales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Las reglas generales viven en SecurityConfig; las restricciones sensibles también usan @PreAuthorize.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PÚBLICOS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GET /api/auth/csrf  ·  POST /api/auth/login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27956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28456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SESIÓN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1256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GET /api/auth/me  ·  POST /api/auth/logout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36912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37412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VENTAS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0212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GET/POST: roles autenticados  ·  PUT: líder/encargado  ·  DELETE: encargado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45868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46368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ADMINISTRACIÓN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49168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Productos y sucursales: lectura autenticada; cambios restringidos al encargado.</a:t>
            </a:r>
            <a:endParaRPr lang="es-MX" sz="1550"/>
          </a:p>
        </p:txBody>
      </p:sp>
      <p:sp>
        <p:nvSpPr>
          <p:cNvPr id="19" name="Card 4"/>
          <p:cNvSpPr/>
          <p:nvPr/>
        </p:nvSpPr>
        <p:spPr>
          <a:xfrm>
            <a:off x="480000" y="5482400"/>
            <a:ext cx="11100000" cy="72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20" name="Card heading 4"/>
          <p:cNvSpPr/>
          <p:nvPr/>
        </p:nvSpPr>
        <p:spPr>
          <a:xfrm>
            <a:off x="650000" y="55324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AUDITORÍA</a:t>
            </a:r>
            <a:endParaRPr lang="es-MX" sz="1450"/>
          </a:p>
        </p:txBody>
      </p:sp>
      <p:sp>
        <p:nvSpPr>
          <p:cNvPr id="21" name="Card body 4"/>
          <p:cNvSpPr/>
          <p:nvPr/>
        </p:nvSpPr>
        <p:spPr>
          <a:xfrm>
            <a:off x="650000" y="5812400"/>
            <a:ext cx="1060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GET /api/auditoria: encargado únicamente.</a:t>
            </a:r>
            <a:endParaRPr lang="es-MX" sz="1550"/>
          </a:p>
        </p:txBody>
      </p:sp>
      <p:sp>
        <p:nvSpPr>
          <p:cNvPr id="22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3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10</a:t>
            </a:r>
            <a:endParaRPr lang="es-MX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Verificación realizada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La compilación comprueba que las piezas de seguridad están integradas en el código.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BACKEND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Compilación Maven: correcta.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FRONTEND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Build de Vite: correcto.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EJECUCIÓN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No fue posible validar login en vivo: MySQL en localhost:3306 rechazó la conexión.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PARA DEMOSTRAR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Iniciar MySQL y la BD tienda_neto; después Spring Boot y Vite; probar login, permisos y logout.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11</a:t>
            </a:r>
            <a:endParaRPr lang="es-MX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Alcance y siguientes pasos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La implementación actual protege la API con sesión y roles para una demostración funcional.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ANTES DE PRODUCCIÓN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Usar secretos fuera del repositorio, HTTPS, contraseñas robustas y gestión segura de usuarios.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ESCALAR A SUCURSALES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Relacionar cada usuario con sucursal/caja y comprobar ese alcance en las consultas de ventas.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ENDURECIMIENTO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Agregar límites de intentos, recuperación de cuenta, cambios de contraseña y monitoreo.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IDEA CLAVE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Spring Security autentica quién es el usuario y autoriza qué puede hacer.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12</a:t>
            </a:r>
            <a:endParaRPr lang="es-MX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3" name="Brand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23B78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4" name="Brand label"/>
          <p:cNvSpPr/>
          <p:nvPr/>
        </p:nvSpPr>
        <p:spPr>
          <a:xfrm>
            <a:off x="380000" y="3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100" b="1">
                <a:solidFill>
                  <a:srgbClr val="FFFFFF"/>
                </a:solidFill>
                <a:latin typeface="Aptos"/>
              </a:rPr>
              <a:t>NETO  |  SISTEMA DE VENTAS</a:t>
            </a:r>
            <a:endParaRPr lang="es-MX" sz="1100"/>
          </a:p>
        </p:txBody>
      </p:sp>
      <p:sp>
        <p:nvSpPr>
          <p:cNvPr id="5" name="Title"/>
          <p:cNvSpPr/>
          <p:nvPr/>
        </p:nvSpPr>
        <p:spPr>
          <a:xfrm>
            <a:off x="440000" y="59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3000" b="1">
                <a:solidFill>
                  <a:srgbClr val="123B78"/>
                </a:solidFill>
                <a:latin typeface="Aptos"/>
              </a:rPr>
              <a:t>Referencias</a:t>
            </a:r>
            <a:endParaRPr lang="es-MX" sz="3000"/>
          </a:p>
        </p:txBody>
      </p:sp>
      <p:sp>
        <p:nvSpPr>
          <p:cNvPr id="6" name="Subtitle"/>
          <p:cNvSpPr/>
          <p:nvPr/>
        </p:nvSpPr>
        <p:spPr>
          <a:xfrm>
            <a:off x="460000" y="129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00" b="0">
                <a:solidFill>
                  <a:srgbClr val="64748B"/>
                </a:solidFill>
                <a:latin typeface="Aptos"/>
              </a:rPr>
              <a:t>Documentación oficial consultada</a:t>
            </a:r>
            <a:endParaRPr lang="es-MX" sz="1500"/>
          </a:p>
        </p:txBody>
      </p:sp>
      <p:sp>
        <p:nvSpPr>
          <p:cNvPr id="7" name="Card 0"/>
          <p:cNvSpPr/>
          <p:nvPr/>
        </p:nvSpPr>
        <p:spPr>
          <a:xfrm>
            <a:off x="480000" y="1900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8" name="Card heading 0"/>
          <p:cNvSpPr/>
          <p:nvPr/>
        </p:nvSpPr>
        <p:spPr>
          <a:xfrm>
            <a:off x="650000" y="19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SPRING SECURITY</a:t>
            </a:r>
            <a:endParaRPr lang="es-MX" sz="1450"/>
          </a:p>
        </p:txBody>
      </p:sp>
      <p:sp>
        <p:nvSpPr>
          <p:cNvPr id="9" name="Card body 0"/>
          <p:cNvSpPr/>
          <p:nvPr/>
        </p:nvSpPr>
        <p:spPr>
          <a:xfrm>
            <a:off x="650000" y="2230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docs.spring.io/spring-security/reference/getting-spring-security.html</a:t>
            </a:r>
            <a:endParaRPr lang="es-MX" sz="1550"/>
          </a:p>
        </p:txBody>
      </p:sp>
      <p:sp>
        <p:nvSpPr>
          <p:cNvPr id="10" name="Card 1"/>
          <p:cNvSpPr/>
          <p:nvPr/>
        </p:nvSpPr>
        <p:spPr>
          <a:xfrm>
            <a:off x="480000" y="3019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1" name="Card heading 1"/>
          <p:cNvSpPr/>
          <p:nvPr/>
        </p:nvSpPr>
        <p:spPr>
          <a:xfrm>
            <a:off x="650000" y="3069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PASSWORD STORAGE</a:t>
            </a:r>
            <a:endParaRPr lang="es-MX" sz="1450"/>
          </a:p>
        </p:txBody>
      </p:sp>
      <p:sp>
        <p:nvSpPr>
          <p:cNvPr id="12" name="Card body 1"/>
          <p:cNvSpPr/>
          <p:nvPr/>
        </p:nvSpPr>
        <p:spPr>
          <a:xfrm>
            <a:off x="650000" y="3349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docs.spring.io/spring-security/reference/features/authentication/password-storage.html</a:t>
            </a:r>
            <a:endParaRPr lang="es-MX" sz="1550"/>
          </a:p>
        </p:txBody>
      </p:sp>
      <p:sp>
        <p:nvSpPr>
          <p:cNvPr id="13" name="Card 2"/>
          <p:cNvSpPr/>
          <p:nvPr/>
        </p:nvSpPr>
        <p:spPr>
          <a:xfrm>
            <a:off x="480000" y="41390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4" name="Card heading 2"/>
          <p:cNvSpPr/>
          <p:nvPr/>
        </p:nvSpPr>
        <p:spPr>
          <a:xfrm>
            <a:off x="650000" y="4189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AUTORIZACIÓN</a:t>
            </a:r>
            <a:endParaRPr lang="es-MX" sz="1450"/>
          </a:p>
        </p:txBody>
      </p:sp>
      <p:sp>
        <p:nvSpPr>
          <p:cNvPr id="15" name="Card body 2"/>
          <p:cNvSpPr/>
          <p:nvPr/>
        </p:nvSpPr>
        <p:spPr>
          <a:xfrm>
            <a:off x="650000" y="44690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docs.spring.io/spring-security/reference/servlet/authorization/authorize-http-requests.html</a:t>
            </a:r>
            <a:endParaRPr lang="es-MX" sz="1550"/>
          </a:p>
        </p:txBody>
      </p:sp>
      <p:sp>
        <p:nvSpPr>
          <p:cNvPr id="16" name="Card 3"/>
          <p:cNvSpPr/>
          <p:nvPr/>
        </p:nvSpPr>
        <p:spPr>
          <a:xfrm>
            <a:off x="480000" y="5258500"/>
            <a:ext cx="11100000" cy="94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800" b="0">
                <a:solidFill>
                  <a:srgbClr val="17243A"/>
                </a:solidFill>
                <a:latin typeface="Aptos"/>
              </a:rPr>
              <a:t/>
            </a:r>
            <a:endParaRPr lang="es-MX" sz="1800"/>
          </a:p>
        </p:txBody>
      </p:sp>
      <p:sp>
        <p:nvSpPr>
          <p:cNvPr id="17" name="Card heading 3"/>
          <p:cNvSpPr/>
          <p:nvPr/>
        </p:nvSpPr>
        <p:spPr>
          <a:xfrm>
            <a:off x="650000" y="53085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450" b="1">
                <a:solidFill>
                  <a:srgbClr val="F36B21"/>
                </a:solidFill>
                <a:latin typeface="Aptos"/>
              </a:rPr>
              <a:t>CSRF</a:t>
            </a:r>
            <a:endParaRPr lang="es-MX" sz="1450"/>
          </a:p>
        </p:txBody>
      </p:sp>
      <p:sp>
        <p:nvSpPr>
          <p:cNvPr id="18" name="Card body 3"/>
          <p:cNvSpPr/>
          <p:nvPr/>
        </p:nvSpPr>
        <p:spPr>
          <a:xfrm>
            <a:off x="650000" y="5588500"/>
            <a:ext cx="10600000" cy="5795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1550" b="0">
                <a:solidFill>
                  <a:srgbClr val="17243A"/>
                </a:solidFill>
                <a:latin typeface="Aptos"/>
              </a:rPr>
              <a:t>docs.spring.io/spring-security/reference/servlet/exploits/csrf.html</a:t>
            </a:r>
            <a:endParaRPr lang="es-MX" sz="1550"/>
          </a:p>
        </p:txBody>
      </p:sp>
      <p:sp>
        <p:nvSpPr>
          <p:cNvPr id="19" name="Footer"/>
          <p:cNvSpPr/>
          <p:nvPr/>
        </p:nvSpPr>
        <p:spPr>
          <a:xfrm>
            <a:off x="450000" y="6438000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0">
                <a:solidFill>
                  <a:srgbClr val="64748B"/>
                </a:solidFill>
                <a:latin typeface="Aptos"/>
              </a:rPr>
              <a:t>Sistema de ventas NETO  ·  Spring Security</a:t>
            </a:r>
            <a:endParaRPr lang="es-MX" sz="950"/>
          </a:p>
        </p:txBody>
      </p:sp>
      <p:sp>
        <p:nvSpPr>
          <p:cNvPr id="20" name="Page"/>
          <p:cNvSpPr/>
          <p:nvPr/>
        </p:nvSpPr>
        <p:spPr>
          <a:xfrm>
            <a:off x="11000000" y="6438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50000" rIns="120000" tIns="80000" bIns="50000" anchor="ctr"/>
          <a:lstStyle/>
          <a:p>
            <a:pPr/>
            <a:r>
              <a:rPr lang="es-MX" sz="950" b="1">
                <a:solidFill>
                  <a:srgbClr val="1C5BA8"/>
                </a:solidFill>
                <a:latin typeface="Aptos"/>
              </a:rPr>
              <a:t>13</a:t>
            </a:r>
            <a:endParaRPr lang="es-MX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O">
  <a:themeElements>
    <a:clrScheme name="Neto">
      <a:dk1>
        <a:srgbClr val="17243A"/>
      </a:dk1>
      <a:lt1>
        <a:srgbClr val="FFFFFF"/>
      </a:lt1>
      <a:dk2>
        <a:srgbClr val="123B78"/>
      </a:dk2>
      <a:lt2>
        <a:srgbClr val="EEF4FB"/>
      </a:lt2>
      <a:accent1>
        <a:srgbClr val="1C5BA8"/>
      </a:accent1>
      <a:accent2>
        <a:srgbClr val="F36B21"/>
      </a:accent2>
      <a:accent3>
        <a:srgbClr val="64748B"/>
      </a:accent3>
      <a:accent4>
        <a:srgbClr val="DCE8F6"/>
      </a:accent4>
      <a:accent5>
        <a:srgbClr val="F9A36E"/>
      </a:accent5>
      <a:accent6>
        <a:srgbClr val="A9BED9"/>
      </a:accent6>
      <a:hlink>
        <a:srgbClr val="1C5BA8"/>
      </a:hlink>
      <a:folHlink>
        <a:srgbClr val="123B78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Neto">
      <a:fillStyleLst/>
      <a:lnStyleLst/>
      <a:effectStyleLst/>
      <a:bgFillStyleLst/>
    </a:fmtScheme>
  </a:themeElements>
</a:theme>
</file>